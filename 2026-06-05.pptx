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1"/>
  </p:notesMasterIdLst>
  <p:handoutMasterIdLst>
    <p:handoutMasterId r:id="rId32"/>
  </p:handoutMasterIdLst>
  <p:sldIdLst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76" r:id="rId11"/>
    <p:sldId id="277" r:id="rId12"/>
    <p:sldId id="278" r:id="rId13"/>
    <p:sldId id="279" r:id="rId14"/>
    <p:sldId id="280" r:id="rId15"/>
    <p:sldId id="281" r:id="rId16"/>
    <p:sldId id="282" r:id="rId17"/>
    <p:sldId id="283" r:id="rId18"/>
    <p:sldId id="284" r:id="rId19"/>
    <p:sldId id="285" r:id="rId20"/>
    <p:sldId id="266" r:id="rId21"/>
    <p:sldId id="267" r:id="rId22"/>
    <p:sldId id="268" r:id="rId23"/>
    <p:sldId id="269" r:id="rId24"/>
    <p:sldId id="270" r:id="rId25"/>
    <p:sldId id="271" r:id="rId26"/>
    <p:sldId id="272" r:id="rId27"/>
    <p:sldId id="273" r:id="rId28"/>
    <p:sldId id="274" r:id="rId29"/>
    <p:sldId id="275" r:id="rId30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21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21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5" Type="http://schemas.openxmlformats.org/officeDocument/2006/relationships/tableStyles" Target="tableStyles.xml"/><Relationship Id="rId34" Type="http://schemas.openxmlformats.org/officeDocument/2006/relationships/viewProps" Target="viewProps.xml"/><Relationship Id="rId33" Type="http://schemas.openxmlformats.org/officeDocument/2006/relationships/presProps" Target="presProps.xml"/><Relationship Id="rId32" Type="http://schemas.openxmlformats.org/officeDocument/2006/relationships/handoutMaster" Target="handoutMasters/handoutMaster1.xml"/><Relationship Id="rId31" Type="http://schemas.openxmlformats.org/officeDocument/2006/relationships/notesMaster" Target="notesMasters/notesMaster1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Click to edit Master subtitle style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8088" cy="811530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Click to edit Master text styles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cxnSp>
        <p:nvCxnSpPr>
          <p:cNvPr id="8" name="直接连接符 7" hidden="1"/>
          <p:cNvCxnSpPr/>
          <p:nvPr userDrawn="1"/>
        </p:nvCxnSpPr>
        <p:spPr>
          <a:xfrm>
            <a:off x="742950" y="434340"/>
            <a:ext cx="0" cy="13912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1.png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6.png"/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2.png"/><Relationship Id="rId1" Type="http://schemas.openxmlformats.org/officeDocument/2006/relationships/image" Target="../media/image3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4.png"/><Relationship Id="rId1" Type="http://schemas.openxmlformats.org/officeDocument/2006/relationships/image" Target="../media/image33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image" Target="../media/image37.png"/></Relationships>
</file>

<file path=ppt/slides/_rels/slide1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image" Target="../media/image4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6.png"/><Relationship Id="rId1" Type="http://schemas.openxmlformats.org/officeDocument/2006/relationships/image" Target="../media/image45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image" Target="../media/image4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1.png"/><Relationship Id="rId1" Type="http://schemas.openxmlformats.org/officeDocument/2006/relationships/image" Target="../media/image5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3.png"/><Relationship Id="rId1" Type="http://schemas.openxmlformats.org/officeDocument/2006/relationships/image" Target="../media/image5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5.png"/><Relationship Id="rId1" Type="http://schemas.openxmlformats.org/officeDocument/2006/relationships/image" Target="../media/image54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6.png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image" Target="../media/image57.png"/></Relationships>
</file>

<file path=ppt/slides/_rels/slide2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63.png"/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image" Target="../media/image60.png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image" Target="../media/image64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9.png"/><Relationship Id="rId1" Type="http://schemas.openxmlformats.org/officeDocument/2006/relationships/image" Target="../media/image6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x-none" altLang="zh-CN"/>
              <a:t>5.</a:t>
            </a:r>
            <a:r>
              <a:rPr lang="zh-CN" altLang="en-US"/>
              <a:t>已知动圆</a:t>
            </a:r>
            <a:r>
              <a:rPr lang="en-US" altLang="en-US"/>
              <a:t>C</a:t>
            </a:r>
            <a:r>
              <a:rPr lang="zh-CN" altLang="en-US"/>
              <a:t>与圆(</a:t>
            </a:r>
            <a:r>
              <a:rPr lang="en-US" altLang="en-US"/>
              <a:t>x-2)² +y²=25</a:t>
            </a:r>
            <a:r>
              <a:rPr lang="zh-CN" altLang="en-US"/>
              <a:t>内切，同时与圆(</a:t>
            </a:r>
            <a:r>
              <a:rPr lang="en-US" altLang="en-US"/>
              <a:t>x+2)² +y=1</a:t>
            </a:r>
            <a:r>
              <a:rPr lang="zh-CN" altLang="en-US"/>
              <a:t>外切，则动圆</a:t>
            </a:r>
            <a:r>
              <a:rPr lang="en-US" altLang="en-US"/>
              <a:t>C</a:t>
            </a:r>
            <a:r>
              <a:rPr lang="zh-CN" altLang="en-US"/>
              <a:t>的圆心轨迹方程为</a:t>
            </a:r>
            <a:endParaRPr lang="zh-CN" alt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60205" y="1584325"/>
            <a:ext cx="1903095" cy="84010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" y="1584325"/>
            <a:ext cx="4924631" cy="472344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x-none" altLang="zh-CN"/>
              <a:t>5.</a:t>
            </a:r>
            <a:r>
              <a:rPr lang="zh-CN" altLang="en-US"/>
              <a:t>已知动圆</a:t>
            </a:r>
            <a:r>
              <a:rPr lang="en-US" altLang="en-US"/>
              <a:t>C</a:t>
            </a:r>
            <a:r>
              <a:rPr lang="zh-CN" altLang="en-US"/>
              <a:t>与圆(</a:t>
            </a:r>
            <a:r>
              <a:rPr lang="en-US" altLang="en-US"/>
              <a:t>x-2)² +y²=25</a:t>
            </a:r>
            <a:r>
              <a:rPr lang="zh-CN" altLang="en-US"/>
              <a:t>内切，同时与圆(</a:t>
            </a:r>
            <a:r>
              <a:rPr lang="en-US" altLang="en-US"/>
              <a:t>x+2)² +y=1</a:t>
            </a:r>
            <a:r>
              <a:rPr lang="zh-CN" altLang="en-US"/>
              <a:t>外切，则动圆</a:t>
            </a:r>
            <a:r>
              <a:rPr lang="en-US" altLang="en-US"/>
              <a:t>C</a:t>
            </a:r>
            <a:r>
              <a:rPr lang="zh-CN" altLang="en-US"/>
              <a:t>的圆心轨迹方程为</a:t>
            </a:r>
            <a:endParaRPr lang="zh-CN" alt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60205" y="1584325"/>
            <a:ext cx="1903095" cy="84010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" y="1584325"/>
            <a:ext cx="4924631" cy="472344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7700" y="2411095"/>
            <a:ext cx="4350385" cy="299466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1325" y="1584325"/>
            <a:ext cx="561975" cy="128587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0200" y="313690"/>
            <a:ext cx="1425575" cy="46037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/>
          <a:p>
            <a:r>
              <a:rPr lang="x-none" altLang="en-US"/>
              <a:t>11.已知双曲线               的左，右焦点分别为F</a:t>
            </a:r>
            <a:r>
              <a:rPr lang="en-US" altLang="en-US"/>
              <a:t>₁</a:t>
            </a:r>
            <a:r>
              <a:rPr lang="x-none" altLang="en-US"/>
              <a:t>,F</a:t>
            </a:r>
            <a:r>
              <a:rPr lang="en-US" altLang="en-US"/>
              <a:t>₂</a:t>
            </a:r>
            <a:r>
              <a:rPr lang="x-none" altLang="en-US"/>
              <a:t>，以线段</a:t>
            </a:r>
            <a:r>
              <a:rPr lang="x-none" altLang="en-US">
                <a:sym typeface="+mn-ea"/>
              </a:rPr>
              <a:t>F</a:t>
            </a:r>
            <a:r>
              <a:rPr lang="en-US" altLang="en-US">
                <a:sym typeface="+mn-ea"/>
              </a:rPr>
              <a:t>₁</a:t>
            </a:r>
            <a:r>
              <a:rPr lang="x-none" altLang="en-US">
                <a:sym typeface="+mn-ea"/>
              </a:rPr>
              <a:t>F</a:t>
            </a:r>
            <a:r>
              <a:rPr lang="en-US" altLang="en-US">
                <a:sym typeface="+mn-ea"/>
              </a:rPr>
              <a:t>₂</a:t>
            </a:r>
            <a:r>
              <a:rPr lang="x-none" altLang="en-US">
                <a:sym typeface="+mn-ea"/>
              </a:rPr>
              <a:t>为直径的圆与双曲线C在第二象限内的交点为M，若sin</a:t>
            </a:r>
            <a:r>
              <a:rPr lang="en-US" altLang="en-US">
                <a:sym typeface="+mn-ea"/>
              </a:rPr>
              <a:t>∠</a:t>
            </a:r>
            <a:r>
              <a:rPr lang="x-none" altLang="en-US">
                <a:sym typeface="+mn-ea"/>
              </a:rPr>
              <a:t>M</a:t>
            </a:r>
            <a:r>
              <a:rPr lang="x-none" altLang="en-US">
                <a:sym typeface="+mn-ea"/>
              </a:rPr>
              <a:t>F</a:t>
            </a:r>
            <a:r>
              <a:rPr lang="en-US" altLang="en-US">
                <a:sym typeface="+mn-ea"/>
              </a:rPr>
              <a:t>₁</a:t>
            </a:r>
            <a:r>
              <a:rPr lang="x-none" altLang="en-US">
                <a:sym typeface="+mn-ea"/>
              </a:rPr>
              <a:t>F</a:t>
            </a:r>
            <a:r>
              <a:rPr lang="en-US" altLang="en-US">
                <a:sym typeface="+mn-ea"/>
              </a:rPr>
              <a:t>₂</a:t>
            </a:r>
            <a:r>
              <a:rPr lang="x-none" altLang="en-US">
                <a:sym typeface="+mn-ea"/>
              </a:rPr>
              <a:t>=0.8，则原点O到直线MF</a:t>
            </a:r>
            <a:r>
              <a:rPr lang="en-US" altLang="en-US">
                <a:sym typeface="+mn-ea"/>
              </a:rPr>
              <a:t>₂</a:t>
            </a:r>
            <a:r>
              <a:rPr lang="x-none" altLang="en-US">
                <a:sym typeface="+mn-ea"/>
              </a:rPr>
              <a:t>的距离为</a:t>
            </a:r>
            <a:endParaRPr lang="x-none" altLang="en-US"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589145" y="238125"/>
            <a:ext cx="1266825" cy="53467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x-none" altLang="en-US">
                <a:solidFill>
                  <a:srgbClr val="FF0000"/>
                </a:solidFill>
              </a:rPr>
              <a:t>12.</a:t>
            </a:r>
            <a:r>
              <a:rPr lang="x-none" altLang="en-US"/>
              <a:t>已知</a:t>
            </a:r>
            <a:r>
              <a:rPr lang="x-none" altLang="en-US">
                <a:sym typeface="+mn-ea"/>
              </a:rPr>
              <a:t>F</a:t>
            </a:r>
            <a:r>
              <a:rPr lang="en-US" altLang="en-US">
                <a:sym typeface="+mn-ea"/>
              </a:rPr>
              <a:t>₁</a:t>
            </a:r>
            <a:r>
              <a:rPr lang="x-none" altLang="en-US">
                <a:sym typeface="+mn-ea"/>
              </a:rPr>
              <a:t>,F</a:t>
            </a:r>
            <a:r>
              <a:rPr lang="en-US" altLang="en-US">
                <a:sym typeface="+mn-ea"/>
              </a:rPr>
              <a:t>₂</a:t>
            </a:r>
            <a:r>
              <a:rPr lang="x-none" altLang="en-US">
                <a:sym typeface="+mn-ea"/>
              </a:rPr>
              <a:t>分别为双曲线             的左右焦点，O为坐标原点，过C右支上一点A(x</a:t>
            </a:r>
            <a:r>
              <a:rPr lang="en-US" altLang="en-US">
                <a:sym typeface="+mn-ea"/>
              </a:rPr>
              <a:t>₀</a:t>
            </a:r>
            <a:r>
              <a:rPr lang="x-none" altLang="en-US">
                <a:sym typeface="+mn-ea"/>
              </a:rPr>
              <a:t>,y</a:t>
            </a:r>
            <a:r>
              <a:rPr lang="en-US" altLang="en-US">
                <a:sym typeface="+mn-ea"/>
              </a:rPr>
              <a:t>₀</a:t>
            </a:r>
            <a:r>
              <a:rPr lang="x-none" altLang="en-US">
                <a:sym typeface="+mn-ea"/>
              </a:rPr>
              <a:t>)(x</a:t>
            </a:r>
            <a:r>
              <a:rPr lang="en-US" altLang="en-US">
                <a:sym typeface="+mn-ea"/>
              </a:rPr>
              <a:t>₀</a:t>
            </a:r>
            <a:r>
              <a:rPr lang="x-none" altLang="en-US">
                <a:sym typeface="+mn-ea"/>
              </a:rPr>
              <a:t>&gt;</a:t>
            </a:r>
            <a:r>
              <a:rPr lang="en-US" altLang="en-US">
                <a:sym typeface="+mn-ea"/>
              </a:rPr>
              <a:t>√</a:t>
            </a:r>
            <a:r>
              <a:rPr lang="x-none" altLang="en-US">
                <a:sym typeface="+mn-ea"/>
              </a:rPr>
              <a:t>3)作</a:t>
            </a:r>
            <a:r>
              <a:rPr lang="en-US" altLang="en-US">
                <a:sym typeface="+mn-ea"/>
              </a:rPr>
              <a:t>∠</a:t>
            </a:r>
            <a:r>
              <a:rPr lang="x-none" altLang="en-US">
                <a:sym typeface="+mn-ea"/>
              </a:rPr>
              <a:t>F</a:t>
            </a:r>
            <a:r>
              <a:rPr lang="en-US" altLang="en-US">
                <a:sym typeface="+mn-ea"/>
              </a:rPr>
              <a:t>₁</a:t>
            </a:r>
            <a:r>
              <a:rPr lang="x-none" altLang="en-US">
                <a:sym typeface="+mn-ea"/>
              </a:rPr>
              <a:t>AF</a:t>
            </a:r>
            <a:r>
              <a:rPr lang="en-US" altLang="en-US">
                <a:sym typeface="+mn-ea"/>
              </a:rPr>
              <a:t>₂</a:t>
            </a:r>
            <a:r>
              <a:rPr lang="x-none" altLang="en-US">
                <a:sym typeface="+mn-ea"/>
              </a:rPr>
              <a:t>的角平分线交x轴于点M，过F</a:t>
            </a:r>
            <a:r>
              <a:rPr lang="en-US" altLang="en-US">
                <a:sym typeface="+mn-ea"/>
              </a:rPr>
              <a:t>₁</a:t>
            </a:r>
            <a:r>
              <a:rPr lang="x-none" altLang="en-US">
                <a:sym typeface="+mn-ea"/>
              </a:rPr>
              <a:t>作F</a:t>
            </a:r>
            <a:r>
              <a:rPr lang="en-US" altLang="en-US">
                <a:sym typeface="+mn-ea"/>
              </a:rPr>
              <a:t>₁</a:t>
            </a:r>
            <a:r>
              <a:rPr lang="x-none" altLang="en-US">
                <a:sym typeface="+mn-ea"/>
              </a:rPr>
              <a:t>H</a:t>
            </a:r>
            <a:r>
              <a:rPr lang="en-US" altLang="en-US">
                <a:sym typeface="+mn-ea"/>
              </a:rPr>
              <a:t>⊥</a:t>
            </a:r>
            <a:r>
              <a:rPr lang="x-none" altLang="en-US">
                <a:sym typeface="+mn-ea"/>
              </a:rPr>
              <a:t>AM，垂足为H，则OH=</a:t>
            </a:r>
            <a:endParaRPr lang="x-none" altLang="en-US">
              <a:sym typeface="+mn-ea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2725" y="1584325"/>
            <a:ext cx="790575" cy="60007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755" y="1584325"/>
            <a:ext cx="5409019" cy="380619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x-none" altLang="en-US"/>
              <a:t>18.已知抛物线C:y</a:t>
            </a:r>
            <a:r>
              <a:rPr lang="en-US" altLang="en-US"/>
              <a:t>²</a:t>
            </a:r>
            <a:r>
              <a:rPr lang="x-none" altLang="en-US"/>
              <a:t>=4x上一点P</a:t>
            </a:r>
            <a:r>
              <a:rPr lang="x-none" altLang="en-US">
                <a:sym typeface="+mn-ea"/>
              </a:rPr>
              <a:t>(x</a:t>
            </a:r>
            <a:r>
              <a:rPr lang="en-US" altLang="en-US">
                <a:sym typeface="+mn-ea"/>
              </a:rPr>
              <a:t>₀</a:t>
            </a:r>
            <a:r>
              <a:rPr lang="x-none" altLang="en-US">
                <a:sym typeface="+mn-ea"/>
              </a:rPr>
              <a:t>,y</a:t>
            </a:r>
            <a:r>
              <a:rPr lang="en-US" altLang="en-US">
                <a:sym typeface="+mn-ea"/>
              </a:rPr>
              <a:t>₀</a:t>
            </a:r>
            <a:r>
              <a:rPr lang="x-none" altLang="en-US">
                <a:sym typeface="+mn-ea"/>
              </a:rPr>
              <a:t>)，点A(3,</a:t>
            </a:r>
            <a:r>
              <a:rPr lang="en-US" altLang="en-US">
                <a:sym typeface="+mn-ea"/>
              </a:rPr>
              <a:t>√</a:t>
            </a:r>
            <a:r>
              <a:rPr lang="x-none" altLang="en-US">
                <a:sym typeface="+mn-ea"/>
              </a:rPr>
              <a:t>21),则         的最小值</a:t>
            </a:r>
            <a:endParaRPr lang="x-none" altLang="en-US">
              <a:sym typeface="+mn-ea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54440" y="610870"/>
            <a:ext cx="939165" cy="62166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5150" y="1584325"/>
            <a:ext cx="438150" cy="52387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1584325"/>
            <a:ext cx="4107815" cy="42576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x-none" altLang="en-US"/>
              <a:t>19.已知点M(0,4)，点P在曲线x</a:t>
            </a:r>
            <a:r>
              <a:rPr lang="en-US" altLang="en-US"/>
              <a:t>²</a:t>
            </a:r>
            <a:r>
              <a:rPr lang="x-none" altLang="en-US"/>
              <a:t>=12y上运动，点Q在圆x</a:t>
            </a:r>
            <a:r>
              <a:rPr lang="en-US" altLang="en-US"/>
              <a:t>²</a:t>
            </a:r>
            <a:r>
              <a:rPr lang="x-none" altLang="en-US"/>
              <a:t>+(y-3)</a:t>
            </a:r>
            <a:r>
              <a:rPr lang="en-US" altLang="en-US"/>
              <a:t>²</a:t>
            </a:r>
            <a:r>
              <a:rPr lang="x-none" altLang="en-US"/>
              <a:t>=1上运动，则     的取值范围是</a:t>
            </a:r>
            <a:endParaRPr lang="x-none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7700" y="1584325"/>
            <a:ext cx="4072890" cy="38354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2155" y="898525"/>
            <a:ext cx="442595" cy="49466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4925" y="1393190"/>
            <a:ext cx="2238375" cy="10096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x-none" altLang="en-US"/>
              <a:t>26.已知圆心在x轴上移动的圆经过M(-4,0)，且与x轴，y轴分别交于A,B两个动点，过</a:t>
            </a:r>
            <a:r>
              <a:rPr lang="x-none" altLang="en-US">
                <a:sym typeface="+mn-ea"/>
              </a:rPr>
              <a:t>A,B分别作x轴，y轴的垂线，两条垂线的交点记为P，则P的轨迹的形状</a:t>
            </a:r>
            <a:endParaRPr lang="x-none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91675" y="1584325"/>
            <a:ext cx="1571625" cy="67627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" y="1584325"/>
            <a:ext cx="5233670" cy="395351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4160" y="1614170"/>
            <a:ext cx="457835" cy="45466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0875" y="258445"/>
            <a:ext cx="1048385" cy="47244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887855"/>
          </a:xfrm>
        </p:spPr>
        <p:txBody>
          <a:bodyPr>
            <a:normAutofit/>
          </a:bodyPr>
          <a:p>
            <a:r>
              <a:rPr lang="x-none" altLang="en-US"/>
              <a:t>27.(多选)双曲线            的左、右焦点分别是</a:t>
            </a:r>
            <a:r>
              <a:rPr lang="x-none" altLang="en-US">
                <a:sym typeface="+mn-ea"/>
              </a:rPr>
              <a:t>F</a:t>
            </a:r>
            <a:r>
              <a:rPr lang="en-US" altLang="en-US">
                <a:sym typeface="+mn-ea"/>
              </a:rPr>
              <a:t>₁</a:t>
            </a:r>
            <a:r>
              <a:rPr lang="x-none" altLang="en-US">
                <a:sym typeface="+mn-ea"/>
              </a:rPr>
              <a:t>,F</a:t>
            </a:r>
            <a:r>
              <a:rPr lang="en-US" altLang="en-US">
                <a:sym typeface="+mn-ea"/>
              </a:rPr>
              <a:t>₂</a:t>
            </a:r>
            <a:r>
              <a:rPr lang="x-none" altLang="en-US">
                <a:sym typeface="+mn-ea"/>
              </a:rPr>
              <a:t>，P</a:t>
            </a:r>
            <a:r>
              <a:rPr lang="x-none" altLang="en-US">
                <a:sym typeface="+mn-ea"/>
              </a:rPr>
              <a:t>(x</a:t>
            </a:r>
            <a:r>
              <a:rPr lang="en-US" altLang="en-US">
                <a:sym typeface="+mn-ea"/>
              </a:rPr>
              <a:t>₀</a:t>
            </a:r>
            <a:r>
              <a:rPr lang="x-none" altLang="en-US">
                <a:sym typeface="+mn-ea"/>
              </a:rPr>
              <a:t>,y</a:t>
            </a:r>
            <a:r>
              <a:rPr lang="en-US" altLang="en-US">
                <a:sym typeface="+mn-ea"/>
              </a:rPr>
              <a:t>₀</a:t>
            </a:r>
            <a:r>
              <a:rPr lang="x-none" altLang="en-US">
                <a:sym typeface="+mn-ea"/>
              </a:rPr>
              <a:t>)是双曲线第一象限上的一点，且             ，</a:t>
            </a:r>
            <a:r>
              <a:rPr lang="en-US" altLang="en-US">
                <a:sym typeface="+mn-ea"/>
              </a:rPr>
              <a:t>∠</a:t>
            </a:r>
            <a:r>
              <a:rPr lang="x-none" altLang="en-US">
                <a:sym typeface="+mn-ea"/>
              </a:rPr>
              <a:t>F</a:t>
            </a:r>
            <a:r>
              <a:rPr lang="en-US" altLang="en-US">
                <a:sym typeface="+mn-ea"/>
              </a:rPr>
              <a:t>₁</a:t>
            </a:r>
            <a:r>
              <a:rPr lang="x-none" altLang="en-US">
                <a:sym typeface="+mn-ea"/>
              </a:rPr>
              <a:t>PF</a:t>
            </a:r>
            <a:r>
              <a:rPr lang="en-US" altLang="en-US">
                <a:sym typeface="+mn-ea"/>
              </a:rPr>
              <a:t>₂</a:t>
            </a:r>
            <a:r>
              <a:rPr lang="x-none" altLang="en-US">
                <a:sym typeface="+mn-ea"/>
              </a:rPr>
              <a:t>的角平分线交x轴于点M(m,0)，则：</a:t>
            </a:r>
            <a:br>
              <a:rPr lang="x-none" altLang="en-US">
                <a:sym typeface="+mn-ea"/>
              </a:rPr>
            </a:br>
            <a:r>
              <a:rPr lang="x-none" altLang="en-US">
                <a:sym typeface="+mn-ea"/>
              </a:rPr>
              <a:t>    A.G的轨迹是双曲线的一部分		B.GO的最小值是1 </a:t>
            </a:r>
            <a:br>
              <a:rPr lang="x-none" altLang="en-US">
                <a:sym typeface="+mn-ea"/>
              </a:rPr>
            </a:br>
            <a:r>
              <a:rPr lang="x-none" altLang="en-US">
                <a:sym typeface="+mn-ea"/>
              </a:rPr>
              <a:t>    C.    的取值范围是(1,3)		</a:t>
            </a:r>
            <a:r>
              <a:rPr lang="x-none" altLang="en-US">
                <a:solidFill>
                  <a:srgbClr val="0070C0"/>
                </a:solidFill>
                <a:sym typeface="+mn-ea"/>
              </a:rPr>
              <a:t>D.</a:t>
            </a:r>
            <a:r>
              <a:rPr lang="x-none" altLang="en-US">
                <a:sym typeface="+mn-ea"/>
              </a:rPr>
              <a:t>mx</a:t>
            </a:r>
            <a:r>
              <a:rPr lang="en-US" altLang="en-US">
                <a:sym typeface="+mn-ea"/>
              </a:rPr>
              <a:t>₀</a:t>
            </a:r>
            <a:r>
              <a:rPr lang="x-none" altLang="en-US">
                <a:sym typeface="+mn-ea"/>
              </a:rPr>
              <a:t>=9</a:t>
            </a:r>
            <a:endParaRPr lang="x-none" altLang="en-US">
              <a:sym typeface="+mn-ea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925" y="2544445"/>
            <a:ext cx="4086225" cy="305117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14725" y="692785"/>
            <a:ext cx="1343660" cy="398145"/>
          </a:xfrm>
          <a:prstGeom prst="rect">
            <a:avLst/>
          </a:prstGeom>
        </p:spPr>
      </p:pic>
      <p:sp>
        <p:nvSpPr>
          <p:cNvPr id="8" name="Text Box 7"/>
          <p:cNvSpPr txBox="1"/>
          <p:nvPr/>
        </p:nvSpPr>
        <p:spPr>
          <a:xfrm>
            <a:off x="9820275" y="2146300"/>
            <a:ext cx="40640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x-none" altLang="en-US" sz="3200"/>
              <a:t>ACD</a:t>
            </a:r>
            <a:endParaRPr lang="x-none" altLang="en-US" sz="32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x-none" altLang="en-US">
                <a:solidFill>
                  <a:srgbClr val="0070C0"/>
                </a:solidFill>
              </a:rPr>
              <a:t>30.</a:t>
            </a:r>
            <a:r>
              <a:rPr lang="x-none" altLang="en-US"/>
              <a:t>设F为双曲线             (a&gt;0,b&gt;0)的右焦点，</a:t>
            </a:r>
            <a:r>
              <a:rPr lang="en-US" altLang="en-US"/>
              <a:t>α</a:t>
            </a:r>
            <a:r>
              <a:rPr lang="x-none" altLang="en-US"/>
              <a:t>、</a:t>
            </a:r>
            <a:r>
              <a:rPr lang="en-US" altLang="en-US"/>
              <a:t>β</a:t>
            </a:r>
            <a:r>
              <a:rPr lang="x-none" altLang="en-US"/>
              <a:t>分别为两条渐近线的倾斜角，满足</a:t>
            </a:r>
            <a:r>
              <a:rPr lang="en-US" altLang="en-US"/>
              <a:t>β</a:t>
            </a:r>
            <a:r>
              <a:rPr lang="x-none" altLang="en-US"/>
              <a:t>=5</a:t>
            </a:r>
            <a:r>
              <a:rPr lang="en-US" altLang="en-US">
                <a:sym typeface="+mn-ea"/>
              </a:rPr>
              <a:t>α</a:t>
            </a:r>
            <a:r>
              <a:rPr lang="x-none" altLang="en-US">
                <a:sym typeface="+mn-ea"/>
              </a:rPr>
              <a:t>，F到一条渐近线的距离为</a:t>
            </a:r>
            <a:r>
              <a:rPr lang="en-US" altLang="en-US">
                <a:sym typeface="+mn-ea"/>
              </a:rPr>
              <a:t>√</a:t>
            </a:r>
            <a:r>
              <a:rPr lang="x-none" altLang="en-US">
                <a:sym typeface="+mn-ea"/>
              </a:rPr>
              <a:t>3，则双曲线的焦距为</a:t>
            </a:r>
            <a:endParaRPr lang="x-none" altLang="en-US">
              <a:sym typeface="+mn-ea"/>
            </a:endParaRPr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028315" y="338455"/>
            <a:ext cx="1319530" cy="582295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9534525" y="1709420"/>
            <a:ext cx="40640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x-none" altLang="en-US" sz="3200"/>
              <a:t>4</a:t>
            </a:r>
            <a:r>
              <a:rPr lang="en-US" altLang="en-US" sz="3200"/>
              <a:t>√</a:t>
            </a:r>
            <a:r>
              <a:rPr lang="x-none" altLang="en-US" sz="3200"/>
              <a:t>3</a:t>
            </a:r>
            <a:endParaRPr lang="x-none" altLang="en-US" sz="32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x-none" altLang="en-US"/>
              <a:t>31.(多选)已知椭圆             ，，双曲线                (a&gt;b&gt;0)的离心率分别为e</a:t>
            </a:r>
            <a:r>
              <a:rPr lang="en-US" altLang="en-US"/>
              <a:t>₁</a:t>
            </a:r>
            <a:r>
              <a:rPr lang="x-none" altLang="en-US"/>
              <a:t>,e</a:t>
            </a:r>
            <a:r>
              <a:rPr lang="en-US" altLang="en-US"/>
              <a:t>₂</a:t>
            </a:r>
            <a:r>
              <a:rPr lang="x-none" altLang="en-US"/>
              <a:t>，则</a:t>
            </a:r>
            <a:endParaRPr lang="x-none" alt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437890" y="377825"/>
            <a:ext cx="1574800" cy="64833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1750" y="387985"/>
            <a:ext cx="1581150" cy="638175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647700" y="1635760"/>
            <a:ext cx="869251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x-none" altLang="en-US" sz="2400"/>
              <a:t>A.C</a:t>
            </a:r>
            <a:r>
              <a:rPr lang="en-US" altLang="en-US" sz="2400">
                <a:sym typeface="+mn-ea"/>
              </a:rPr>
              <a:t>₁</a:t>
            </a:r>
            <a:r>
              <a:rPr lang="x-none" altLang="en-US" sz="2400">
                <a:sym typeface="+mn-ea"/>
              </a:rPr>
              <a:t>的焦距小于C</a:t>
            </a:r>
            <a:r>
              <a:rPr lang="en-US" altLang="en-US" sz="2400">
                <a:sym typeface="+mn-ea"/>
              </a:rPr>
              <a:t>₂</a:t>
            </a:r>
            <a:r>
              <a:rPr lang="x-none" altLang="en-US" sz="2400">
                <a:sym typeface="+mn-ea"/>
              </a:rPr>
              <a:t>的焦距	B.C</a:t>
            </a:r>
            <a:r>
              <a:rPr lang="en-US" altLang="en-US" sz="2400">
                <a:sym typeface="+mn-ea"/>
              </a:rPr>
              <a:t>₂</a:t>
            </a:r>
            <a:r>
              <a:rPr lang="x-none" altLang="en-US" sz="2400">
                <a:sym typeface="+mn-ea"/>
              </a:rPr>
              <a:t>可能为等轴双曲线</a:t>
            </a:r>
            <a:endParaRPr lang="x-none" altLang="en-US" sz="2400">
              <a:sym typeface="+mn-ea"/>
            </a:endParaRPr>
          </a:p>
          <a:p>
            <a:r>
              <a:rPr lang="x-none" altLang="en-US" sz="2400">
                <a:sym typeface="+mn-ea"/>
              </a:rPr>
              <a:t>C.				D.C</a:t>
            </a:r>
            <a:r>
              <a:rPr lang="en-US" altLang="en-US" sz="2400">
                <a:sym typeface="+mn-ea"/>
              </a:rPr>
              <a:t>₁</a:t>
            </a:r>
            <a:r>
              <a:rPr lang="x-none" altLang="en-US" sz="2400">
                <a:sym typeface="+mn-ea"/>
              </a:rPr>
              <a:t>与C</a:t>
            </a:r>
            <a:r>
              <a:rPr lang="en-US" altLang="en-US" sz="2400">
                <a:sym typeface="+mn-ea"/>
              </a:rPr>
              <a:t>₂</a:t>
            </a:r>
            <a:r>
              <a:rPr lang="x-none" altLang="en-US" sz="2400">
                <a:sym typeface="+mn-ea"/>
              </a:rPr>
              <a:t>恰有四个公共点</a:t>
            </a:r>
            <a:endParaRPr lang="x-none" altLang="en-US" sz="2400">
              <a:sym typeface="+mn-ea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9345" y="2056765"/>
            <a:ext cx="1386205" cy="460375"/>
          </a:xfrm>
          <a:prstGeom prst="rect">
            <a:avLst/>
          </a:prstGeom>
        </p:spPr>
      </p:pic>
      <p:sp>
        <p:nvSpPr>
          <p:cNvPr id="8" name="Text Box 7"/>
          <p:cNvSpPr txBox="1"/>
          <p:nvPr/>
        </p:nvSpPr>
        <p:spPr>
          <a:xfrm>
            <a:off x="9340215" y="1584325"/>
            <a:ext cx="40640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x-none" altLang="en-US" sz="3200"/>
              <a:t>AC</a:t>
            </a:r>
            <a:endParaRPr lang="x-none" altLang="en-US" sz="320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700" y="3075305"/>
            <a:ext cx="2721610" cy="208661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x-none" altLang="en-US"/>
              <a:t>33.已知椭圆C</a:t>
            </a:r>
            <a:r>
              <a:rPr lang="en-US" altLang="en-US"/>
              <a:t>₁</a:t>
            </a:r>
            <a:r>
              <a:rPr lang="x-none" altLang="en-US"/>
              <a:t>和双曲线C</a:t>
            </a:r>
            <a:r>
              <a:rPr lang="en-US" altLang="en-US"/>
              <a:t>₂</a:t>
            </a:r>
            <a:r>
              <a:rPr lang="x-none" altLang="en-US"/>
              <a:t>有相同的左、右焦点</a:t>
            </a:r>
            <a:r>
              <a:rPr lang="x-none" altLang="en-US">
                <a:sym typeface="+mn-ea"/>
              </a:rPr>
              <a:t>F</a:t>
            </a:r>
            <a:r>
              <a:rPr lang="en-US" altLang="en-US">
                <a:sym typeface="+mn-ea"/>
              </a:rPr>
              <a:t>₁</a:t>
            </a:r>
            <a:r>
              <a:rPr lang="x-none" altLang="en-US">
                <a:sym typeface="+mn-ea"/>
              </a:rPr>
              <a:t>,F</a:t>
            </a:r>
            <a:r>
              <a:rPr lang="en-US" altLang="en-US">
                <a:sym typeface="+mn-ea"/>
              </a:rPr>
              <a:t>₂</a:t>
            </a:r>
            <a:r>
              <a:rPr lang="x-none" altLang="en-US">
                <a:sym typeface="+mn-ea"/>
              </a:rPr>
              <a:t>，P为</a:t>
            </a:r>
            <a:r>
              <a:rPr lang="x-none" altLang="en-US">
                <a:sym typeface="+mn-ea"/>
              </a:rPr>
              <a:t>C</a:t>
            </a:r>
            <a:r>
              <a:rPr lang="en-US" altLang="en-US">
                <a:sym typeface="+mn-ea"/>
              </a:rPr>
              <a:t>₁</a:t>
            </a:r>
            <a:r>
              <a:rPr lang="x-none" altLang="en-US">
                <a:sym typeface="+mn-ea"/>
              </a:rPr>
              <a:t>与C</a:t>
            </a:r>
            <a:r>
              <a:rPr lang="en-US" altLang="en-US">
                <a:sym typeface="+mn-ea"/>
              </a:rPr>
              <a:t>₂</a:t>
            </a:r>
            <a:r>
              <a:rPr lang="x-none" altLang="en-US">
                <a:sym typeface="+mn-ea"/>
              </a:rPr>
              <a:t>在第一象限的交点，设C</a:t>
            </a:r>
            <a:r>
              <a:rPr lang="en-US" altLang="en-US">
                <a:sym typeface="+mn-ea"/>
              </a:rPr>
              <a:t>₁</a:t>
            </a:r>
            <a:r>
              <a:rPr lang="x-none" altLang="en-US">
                <a:sym typeface="+mn-ea"/>
              </a:rPr>
              <a:t>的离心率为e</a:t>
            </a:r>
            <a:r>
              <a:rPr lang="en-US" altLang="en-US">
                <a:sym typeface="+mn-ea"/>
              </a:rPr>
              <a:t>₁</a:t>
            </a:r>
            <a:r>
              <a:rPr lang="x-none" altLang="en-US">
                <a:sym typeface="+mn-ea"/>
              </a:rPr>
              <a:t>、</a:t>
            </a:r>
            <a:r>
              <a:rPr lang="x-none" altLang="en-US">
                <a:sym typeface="+mn-ea"/>
              </a:rPr>
              <a:t>C</a:t>
            </a:r>
            <a:r>
              <a:rPr lang="en-US" altLang="en-US">
                <a:sym typeface="+mn-ea"/>
              </a:rPr>
              <a:t>₂</a:t>
            </a:r>
            <a:r>
              <a:rPr lang="x-none" altLang="en-US">
                <a:sym typeface="+mn-ea"/>
              </a:rPr>
              <a:t>的离心率为e</a:t>
            </a:r>
            <a:r>
              <a:rPr lang="en-US" altLang="en-US">
                <a:sym typeface="+mn-ea"/>
              </a:rPr>
              <a:t>₂</a:t>
            </a:r>
            <a:r>
              <a:rPr lang="x-none" altLang="en-US">
                <a:sym typeface="+mn-ea"/>
              </a:rPr>
              <a:t>，且</a:t>
            </a:r>
            <a:r>
              <a:rPr lang="x-none" altLang="en-US">
                <a:sym typeface="+mn-ea"/>
              </a:rPr>
              <a:t>e</a:t>
            </a:r>
            <a:r>
              <a:rPr lang="en-US" altLang="en-US">
                <a:sym typeface="+mn-ea"/>
              </a:rPr>
              <a:t>₂</a:t>
            </a:r>
            <a:r>
              <a:rPr lang="x-none" altLang="en-US">
                <a:sym typeface="+mn-ea"/>
              </a:rPr>
              <a:t>=3e</a:t>
            </a:r>
            <a:r>
              <a:rPr lang="en-US" altLang="en-US">
                <a:sym typeface="+mn-ea"/>
              </a:rPr>
              <a:t>₁</a:t>
            </a:r>
            <a:r>
              <a:rPr lang="x-none" altLang="en-US">
                <a:sym typeface="+mn-ea"/>
              </a:rPr>
              <a:t>，若</a:t>
            </a:r>
            <a:r>
              <a:rPr lang="en-US" altLang="en-US">
                <a:sym typeface="+mn-ea"/>
              </a:rPr>
              <a:t>∠</a:t>
            </a:r>
            <a:r>
              <a:rPr lang="x-none" altLang="en-US">
                <a:sym typeface="+mn-ea"/>
              </a:rPr>
              <a:t>F</a:t>
            </a:r>
            <a:r>
              <a:rPr lang="en-US" altLang="en-US">
                <a:sym typeface="+mn-ea"/>
              </a:rPr>
              <a:t>₁</a:t>
            </a:r>
            <a:r>
              <a:rPr lang="x-none" altLang="en-US">
                <a:sym typeface="+mn-ea"/>
              </a:rPr>
              <a:t>PF</a:t>
            </a:r>
            <a:r>
              <a:rPr lang="en-US" altLang="en-US">
                <a:sym typeface="+mn-ea"/>
              </a:rPr>
              <a:t>₂</a:t>
            </a:r>
            <a:r>
              <a:rPr lang="x-none" altLang="en-US">
                <a:sym typeface="+mn-ea"/>
              </a:rPr>
              <a:t>是直角，求双曲线C</a:t>
            </a:r>
            <a:r>
              <a:rPr lang="en-US" altLang="en-US">
                <a:sym typeface="+mn-ea"/>
              </a:rPr>
              <a:t>₂</a:t>
            </a:r>
            <a:r>
              <a:rPr lang="x-none" altLang="en-US">
                <a:sym typeface="+mn-ea"/>
              </a:rPr>
              <a:t>的渐近线方程</a:t>
            </a:r>
            <a:endParaRPr lang="x-none" altLang="en-US">
              <a:sym typeface="+mn-ea"/>
            </a:endParaRPr>
          </a:p>
        </p:txBody>
      </p:sp>
      <p:pic>
        <p:nvPicPr>
          <p:cNvPr id="5" name="Content Placeholder 4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47700" y="1825625"/>
            <a:ext cx="4034790" cy="2966085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8232775" y="1825308"/>
            <a:ext cx="5080000" cy="583565"/>
          </a:xfrm>
          <a:prstGeom prst="rect">
            <a:avLst/>
          </a:prstGeom>
        </p:spPr>
        <p:txBody>
          <a:bodyPr>
            <a:spAutoFit/>
          </a:bodyPr>
          <a:p>
            <a:r>
              <a:rPr lang="x-none" altLang="en-US" sz="3200"/>
              <a:t>y=</a:t>
            </a:r>
            <a:r>
              <a:rPr lang="en-US" altLang="zh-CN" sz="3200"/>
              <a:t>±</a:t>
            </a:r>
            <a:r>
              <a:rPr lang="x-none" altLang="en-US" sz="3200"/>
              <a:t>2x</a:t>
            </a:r>
            <a:endParaRPr lang="x-none" altLang="en-US" sz="32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86025" y="423545"/>
            <a:ext cx="1036320" cy="5143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x-none" altLang="en-US"/>
              <a:t>34.过双曲线          (a&gt;0,b&gt;0)的一个焦点F作一条渐近线的垂线l，垂足为点A，l与另一条渐近线交于点B，A是线段FB中电，求双曲线渐近线方程</a:t>
            </a:r>
            <a:endParaRPr lang="x-none" alt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7700" y="1584325"/>
            <a:ext cx="4408805" cy="435165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0" y="1584325"/>
            <a:ext cx="2476500" cy="122872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x-none" altLang="en-US"/>
              <a:t>35.已知双曲线         (a&gt;0,b&gt;0),A,B为双曲线的左，右顶点，若P在双曲线上，且</a:t>
            </a:r>
            <a:r>
              <a:rPr lang="en-US" altLang="en-US"/>
              <a:t>∠</a:t>
            </a:r>
            <a:r>
              <a:rPr lang="x-none" altLang="en-US"/>
              <a:t>PAB=30</a:t>
            </a:r>
            <a:r>
              <a:rPr lang="en-US" altLang="en-US"/>
              <a:t>°</a:t>
            </a:r>
            <a:r>
              <a:rPr lang="x-none" altLang="en-US"/>
              <a:t>，PB=AB，求双曲线渐近线方程</a:t>
            </a:r>
            <a:endParaRPr lang="x-none" alt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828290" y="441325"/>
            <a:ext cx="954405" cy="473075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8232775" y="1825308"/>
            <a:ext cx="5080000" cy="583565"/>
          </a:xfrm>
          <a:prstGeom prst="rect">
            <a:avLst/>
          </a:prstGeom>
        </p:spPr>
        <p:txBody>
          <a:bodyPr>
            <a:spAutoFit/>
          </a:bodyPr>
          <a:p>
            <a:r>
              <a:rPr lang="x-none" altLang="en-US" sz="3200"/>
              <a:t>y=</a:t>
            </a:r>
            <a:r>
              <a:rPr lang="en-US" altLang="zh-CN" sz="3200"/>
              <a:t>±</a:t>
            </a:r>
            <a:r>
              <a:rPr lang="x-none" altLang="en-US" sz="3200"/>
              <a:t>x</a:t>
            </a:r>
            <a:endParaRPr lang="x-none" altLang="en-US" sz="320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" y="1825625"/>
            <a:ext cx="4283710" cy="338201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x-none" altLang="en-US"/>
              <a:t>36.已知</a:t>
            </a:r>
            <a:r>
              <a:rPr lang="x-none" altLang="en-US">
                <a:sym typeface="+mn-ea"/>
              </a:rPr>
              <a:t>F</a:t>
            </a:r>
            <a:r>
              <a:rPr lang="en-US" altLang="en-US">
                <a:sym typeface="+mn-ea"/>
              </a:rPr>
              <a:t>₁</a:t>
            </a:r>
            <a:r>
              <a:rPr lang="x-none" altLang="en-US">
                <a:sym typeface="+mn-ea"/>
              </a:rPr>
              <a:t>,F</a:t>
            </a:r>
            <a:r>
              <a:rPr lang="en-US" altLang="en-US">
                <a:sym typeface="+mn-ea"/>
              </a:rPr>
              <a:t>₂</a:t>
            </a:r>
            <a:r>
              <a:rPr lang="x-none" altLang="en-US">
                <a:sym typeface="+mn-ea"/>
              </a:rPr>
              <a:t>分别为椭圆C的左、右交点，过F</a:t>
            </a:r>
            <a:r>
              <a:rPr lang="en-US" altLang="en-US">
                <a:sym typeface="+mn-ea"/>
              </a:rPr>
              <a:t>₁</a:t>
            </a:r>
            <a:r>
              <a:rPr lang="x-none" altLang="en-US">
                <a:sym typeface="+mn-ea"/>
              </a:rPr>
              <a:t>的直线与C交于A、B两点，3AF</a:t>
            </a:r>
            <a:r>
              <a:rPr lang="en-US" altLang="en-US">
                <a:sym typeface="+mn-ea"/>
              </a:rPr>
              <a:t>₁</a:t>
            </a:r>
            <a:r>
              <a:rPr lang="x-none" altLang="en-US">
                <a:sym typeface="+mn-ea"/>
              </a:rPr>
              <a:t>=2BF</a:t>
            </a:r>
            <a:r>
              <a:rPr lang="en-US" altLang="en-US">
                <a:sym typeface="+mn-ea"/>
              </a:rPr>
              <a:t>₁</a:t>
            </a:r>
            <a:r>
              <a:rPr lang="x-none" altLang="en-US">
                <a:sym typeface="+mn-ea"/>
              </a:rPr>
              <a:t>，且</a:t>
            </a:r>
            <a:r>
              <a:rPr lang="en-US" altLang="en-US">
                <a:sym typeface="+mn-ea"/>
              </a:rPr>
              <a:t>∠</a:t>
            </a:r>
            <a:r>
              <a:rPr lang="x-none" altLang="en-US">
                <a:sym typeface="+mn-ea"/>
              </a:rPr>
              <a:t>AF</a:t>
            </a:r>
            <a:r>
              <a:rPr lang="en-US" altLang="en-US">
                <a:sym typeface="+mn-ea"/>
              </a:rPr>
              <a:t>₂</a:t>
            </a:r>
            <a:r>
              <a:rPr lang="x-none" altLang="en-US">
                <a:sym typeface="+mn-ea"/>
              </a:rPr>
              <a:t>B为直角，求C的离心率</a:t>
            </a:r>
            <a:endParaRPr lang="x-none" altLang="en-US">
              <a:sym typeface="+mn-ea"/>
            </a:endParaRPr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47700" y="1825625"/>
            <a:ext cx="4813300" cy="379984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1775" y="1584325"/>
            <a:ext cx="771525" cy="119062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37815" y="173355"/>
            <a:ext cx="1319530" cy="58229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/>
          <a:p>
            <a:r>
              <a:rPr lang="x-none" altLang="en-US"/>
              <a:t>38.已知</a:t>
            </a:r>
            <a:r>
              <a:rPr lang="x-none" altLang="en-US">
                <a:sym typeface="+mn-ea"/>
              </a:rPr>
              <a:t>双曲线             (a&gt;0,b&gt;0)的左、右焦点分别为</a:t>
            </a:r>
            <a:r>
              <a:rPr lang="x-none" altLang="en-US">
                <a:sym typeface="+mn-ea"/>
              </a:rPr>
              <a:t>F</a:t>
            </a:r>
            <a:r>
              <a:rPr lang="en-US" altLang="en-US">
                <a:sym typeface="+mn-ea"/>
              </a:rPr>
              <a:t>₁</a:t>
            </a:r>
            <a:r>
              <a:rPr lang="x-none" altLang="en-US">
                <a:sym typeface="+mn-ea"/>
              </a:rPr>
              <a:t>,F</a:t>
            </a:r>
            <a:r>
              <a:rPr lang="en-US" altLang="en-US">
                <a:sym typeface="+mn-ea"/>
              </a:rPr>
              <a:t>₂</a:t>
            </a:r>
            <a:r>
              <a:rPr lang="x-none" altLang="en-US">
                <a:sym typeface="+mn-ea"/>
              </a:rPr>
              <a:t>，点A在y轴上，</a:t>
            </a:r>
            <a:r>
              <a:rPr lang="en-US" altLang="en-US">
                <a:sym typeface="+mn-ea"/>
              </a:rPr>
              <a:t>△</a:t>
            </a:r>
            <a:r>
              <a:rPr lang="x-none" altLang="en-US">
                <a:sym typeface="+mn-ea"/>
              </a:rPr>
              <a:t>A</a:t>
            </a:r>
            <a:r>
              <a:rPr lang="x-none" altLang="en-US">
                <a:sym typeface="+mn-ea"/>
              </a:rPr>
              <a:t>F</a:t>
            </a:r>
            <a:r>
              <a:rPr lang="en-US" altLang="en-US">
                <a:sym typeface="+mn-ea"/>
              </a:rPr>
              <a:t>₁</a:t>
            </a:r>
            <a:r>
              <a:rPr lang="x-none" altLang="en-US">
                <a:sym typeface="+mn-ea"/>
              </a:rPr>
              <a:t>F</a:t>
            </a:r>
            <a:r>
              <a:rPr lang="en-US" altLang="en-US">
                <a:sym typeface="+mn-ea"/>
              </a:rPr>
              <a:t>₂</a:t>
            </a:r>
            <a:r>
              <a:rPr lang="x-none" altLang="en-US">
                <a:sym typeface="+mn-ea"/>
              </a:rPr>
              <a:t>为等边三角形，AF</a:t>
            </a:r>
            <a:r>
              <a:rPr lang="en-US" altLang="en-US">
                <a:sym typeface="+mn-ea"/>
              </a:rPr>
              <a:t>₂</a:t>
            </a:r>
            <a:r>
              <a:rPr lang="x-none" altLang="en-US">
                <a:sym typeface="+mn-ea"/>
              </a:rPr>
              <a:t>的延长线与双曲线C交于点B，若2AF</a:t>
            </a:r>
            <a:r>
              <a:rPr lang="en-US" altLang="en-US">
                <a:sym typeface="+mn-ea"/>
              </a:rPr>
              <a:t>₂</a:t>
            </a:r>
            <a:r>
              <a:rPr lang="x-none" altLang="en-US">
                <a:sym typeface="+mn-ea"/>
              </a:rPr>
              <a:t>=BF</a:t>
            </a:r>
            <a:r>
              <a:rPr lang="en-US" altLang="en-US">
                <a:sym typeface="+mn-ea"/>
              </a:rPr>
              <a:t>₂</a:t>
            </a:r>
            <a:r>
              <a:rPr lang="x-none" altLang="en-US">
                <a:sym typeface="+mn-ea"/>
              </a:rPr>
              <a:t>，求C的离心率</a:t>
            </a:r>
            <a:endParaRPr lang="x-none" altLang="en-US">
              <a:sym typeface="+mn-ea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72625" y="1584325"/>
            <a:ext cx="1590675" cy="13716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1584325"/>
            <a:ext cx="2871470" cy="401002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376045" y="695325"/>
            <a:ext cx="692150" cy="37528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x-none" altLang="en-US"/>
              <a:t>39.已知椭圆的面积除以圆周率等于椭圆的长半轴长与短半轴长的乘积.已知椭圆       (a&gt;b&gt;0)的面积为        ，过焦点且与x轴垂直的弦长为3，则它的离心率为</a:t>
            </a:r>
            <a:endParaRPr lang="x-none" alt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5995" y="695325"/>
            <a:ext cx="743585" cy="36957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5150" y="1584325"/>
            <a:ext cx="438150" cy="113347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x-none" altLang="en-US"/>
              <a:t>42.已知离心率为e</a:t>
            </a:r>
            <a:r>
              <a:rPr lang="en-US" altLang="en-US"/>
              <a:t>₁</a:t>
            </a:r>
            <a:r>
              <a:rPr lang="x-none" altLang="en-US"/>
              <a:t>的椭圆           (a</a:t>
            </a:r>
            <a:r>
              <a:rPr lang="en-US" altLang="en-US"/>
              <a:t>₁</a:t>
            </a:r>
            <a:r>
              <a:rPr lang="x-none" altLang="en-US"/>
              <a:t>&gt;b</a:t>
            </a:r>
            <a:r>
              <a:rPr lang="en-US" altLang="en-US"/>
              <a:t>₁</a:t>
            </a:r>
            <a:r>
              <a:rPr lang="x-none" altLang="en-US"/>
              <a:t>&gt;0)和离心率为e</a:t>
            </a:r>
            <a:r>
              <a:rPr lang="en-US" altLang="en-US"/>
              <a:t>₂</a:t>
            </a:r>
            <a:r>
              <a:rPr lang="x-none" altLang="en-US"/>
              <a:t>的双曲线</a:t>
            </a:r>
            <a:br>
              <a:rPr lang="x-none" altLang="en-US"/>
            </a:br>
            <a:r>
              <a:rPr lang="x-none" altLang="en-US"/>
              <a:t>(a</a:t>
            </a:r>
            <a:r>
              <a:rPr lang="en-US" altLang="en-US">
                <a:sym typeface="+mn-ea"/>
              </a:rPr>
              <a:t>₂</a:t>
            </a:r>
            <a:r>
              <a:rPr lang="x-none" altLang="en-US">
                <a:sym typeface="+mn-ea"/>
              </a:rPr>
              <a:t>&gt;0,b</a:t>
            </a:r>
            <a:r>
              <a:rPr lang="en-US" altLang="en-US">
                <a:sym typeface="+mn-ea"/>
              </a:rPr>
              <a:t>₂</a:t>
            </a:r>
            <a:r>
              <a:rPr lang="x-none" altLang="en-US">
                <a:sym typeface="+mn-ea"/>
              </a:rPr>
              <a:t>&gt;0)有公共的焦点，</a:t>
            </a:r>
            <a:r>
              <a:rPr lang="x-none" altLang="en-US">
                <a:sym typeface="+mn-ea"/>
              </a:rPr>
              <a:t>F</a:t>
            </a:r>
            <a:r>
              <a:rPr lang="en-US" altLang="en-US">
                <a:sym typeface="+mn-ea"/>
              </a:rPr>
              <a:t>₁</a:t>
            </a:r>
            <a:r>
              <a:rPr lang="x-none" altLang="en-US">
                <a:sym typeface="+mn-ea"/>
              </a:rPr>
              <a:t>,F</a:t>
            </a:r>
            <a:r>
              <a:rPr lang="en-US" altLang="en-US">
                <a:sym typeface="+mn-ea"/>
              </a:rPr>
              <a:t>₂</a:t>
            </a:r>
            <a:r>
              <a:rPr lang="x-none" altLang="en-US">
                <a:sym typeface="+mn-ea"/>
              </a:rPr>
              <a:t>分别为左、右焦点，P是C</a:t>
            </a:r>
            <a:r>
              <a:rPr lang="en-US" altLang="en-US">
                <a:sym typeface="+mn-ea"/>
              </a:rPr>
              <a:t>₁</a:t>
            </a:r>
            <a:r>
              <a:rPr lang="x-none" altLang="en-US">
                <a:sym typeface="+mn-ea"/>
              </a:rPr>
              <a:t>与C</a:t>
            </a:r>
            <a:r>
              <a:rPr lang="en-US" altLang="en-US">
                <a:sym typeface="+mn-ea"/>
              </a:rPr>
              <a:t>₂</a:t>
            </a:r>
            <a:r>
              <a:rPr lang="x-none" altLang="en-US">
                <a:sym typeface="+mn-ea"/>
              </a:rPr>
              <a:t>在第一象限内的公共点.若点P满足2OP=</a:t>
            </a:r>
            <a:r>
              <a:rPr lang="x-none" altLang="en-US">
                <a:sym typeface="+mn-ea"/>
              </a:rPr>
              <a:t>F</a:t>
            </a:r>
            <a:r>
              <a:rPr lang="en-US" altLang="en-US">
                <a:sym typeface="+mn-ea"/>
              </a:rPr>
              <a:t>₁</a:t>
            </a:r>
            <a:r>
              <a:rPr lang="x-none" altLang="en-US">
                <a:sym typeface="+mn-ea"/>
              </a:rPr>
              <a:t>F</a:t>
            </a:r>
            <a:r>
              <a:rPr lang="en-US" altLang="en-US">
                <a:sym typeface="+mn-ea"/>
              </a:rPr>
              <a:t>₂</a:t>
            </a:r>
            <a:r>
              <a:rPr lang="x-none" altLang="en-US">
                <a:sym typeface="+mn-ea"/>
              </a:rPr>
              <a:t>,则            的最小值为</a:t>
            </a:r>
            <a:endParaRPr lang="x-none" altLang="en-US">
              <a:sym typeface="+mn-ea"/>
            </a:endParaRPr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47700" y="1825625"/>
            <a:ext cx="4420870" cy="295148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6895" y="258445"/>
            <a:ext cx="1120140" cy="47942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07320" y="258445"/>
            <a:ext cx="1162685" cy="47879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2395" y="1040765"/>
            <a:ext cx="1247775" cy="43497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74555" y="1825625"/>
            <a:ext cx="1695450" cy="115252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x-none" altLang="en-US"/>
              <a:t>43.已知</a:t>
            </a:r>
            <a:r>
              <a:rPr lang="x-none" altLang="en-US">
                <a:sym typeface="+mn-ea"/>
              </a:rPr>
              <a:t>F</a:t>
            </a:r>
            <a:r>
              <a:rPr lang="en-US" altLang="en-US">
                <a:sym typeface="+mn-ea"/>
              </a:rPr>
              <a:t>₁</a:t>
            </a:r>
            <a:r>
              <a:rPr lang="x-none" altLang="en-US">
                <a:sym typeface="+mn-ea"/>
              </a:rPr>
              <a:t>,F</a:t>
            </a:r>
            <a:r>
              <a:rPr lang="en-US" altLang="en-US">
                <a:sym typeface="+mn-ea"/>
              </a:rPr>
              <a:t>₂</a:t>
            </a:r>
            <a:r>
              <a:rPr lang="x-none" altLang="en-US">
                <a:sym typeface="+mn-ea"/>
              </a:rPr>
              <a:t>是椭圆和双曲线的公共焦点，P,Q是它们关于原点对称的两个交点，</a:t>
            </a:r>
            <a:r>
              <a:rPr lang="en-US" altLang="en-US">
                <a:sym typeface="+mn-ea"/>
              </a:rPr>
              <a:t>∠</a:t>
            </a:r>
            <a:r>
              <a:rPr lang="x-none" altLang="en-US">
                <a:sym typeface="+mn-ea"/>
              </a:rPr>
              <a:t>PF</a:t>
            </a:r>
            <a:r>
              <a:rPr lang="en-US" altLang="en-US">
                <a:sym typeface="+mn-ea"/>
              </a:rPr>
              <a:t>₂</a:t>
            </a:r>
            <a:r>
              <a:rPr lang="x-none" altLang="en-US">
                <a:sym typeface="+mn-ea"/>
              </a:rPr>
              <a:t>Q的平分线交PF</a:t>
            </a:r>
            <a:r>
              <a:rPr lang="en-US" altLang="en-US">
                <a:sym typeface="+mn-ea"/>
              </a:rPr>
              <a:t>₁</a:t>
            </a:r>
            <a:r>
              <a:rPr lang="x-none" altLang="en-US">
                <a:sym typeface="+mn-ea"/>
              </a:rPr>
              <a:t>于点M，MF</a:t>
            </a:r>
            <a:r>
              <a:rPr lang="en-US" altLang="en-US">
                <a:sym typeface="+mn-ea"/>
              </a:rPr>
              <a:t>₂</a:t>
            </a:r>
            <a:r>
              <a:rPr lang="x-none" altLang="en-US">
                <a:sym typeface="+mn-ea"/>
              </a:rPr>
              <a:t>=</a:t>
            </a:r>
            <a:r>
              <a:rPr lang="x-none">
                <a:sym typeface="+mn-ea"/>
              </a:rPr>
              <a:t>P</a:t>
            </a:r>
            <a:r>
              <a:rPr lang="x-none" altLang="en-US">
                <a:sym typeface="+mn-ea"/>
              </a:rPr>
              <a:t>F</a:t>
            </a:r>
            <a:r>
              <a:rPr lang="en-US" altLang="en-US">
                <a:sym typeface="+mn-ea"/>
              </a:rPr>
              <a:t>₂</a:t>
            </a:r>
            <a:r>
              <a:rPr lang="x-none" altLang="en-US">
                <a:sym typeface="+mn-ea"/>
              </a:rPr>
              <a:t>，若椭圆的离心率为e</a:t>
            </a:r>
            <a:r>
              <a:rPr lang="en-US" altLang="en-US">
                <a:sym typeface="+mn-ea"/>
              </a:rPr>
              <a:t>₁</a:t>
            </a:r>
            <a:r>
              <a:rPr lang="x-none" altLang="en-US">
                <a:sym typeface="+mn-ea"/>
              </a:rPr>
              <a:t>，双曲线的离心率为e</a:t>
            </a:r>
            <a:r>
              <a:rPr lang="en-US" altLang="en-US">
                <a:sym typeface="+mn-ea"/>
              </a:rPr>
              <a:t>₂</a:t>
            </a:r>
            <a:r>
              <a:rPr lang="x-none" altLang="en-US">
                <a:sym typeface="+mn-ea"/>
              </a:rPr>
              <a:t>，则       的最小值为</a:t>
            </a:r>
            <a:endParaRPr lang="x-none" altLang="en-US">
              <a:sym typeface="+mn-ea"/>
            </a:endParaRPr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218940" y="1024255"/>
            <a:ext cx="593090" cy="51943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9686925" y="2099945"/>
            <a:ext cx="40640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x-none" altLang="en-US" sz="3200"/>
              <a:t>1</a:t>
            </a:r>
            <a:endParaRPr lang="x-none" altLang="en-US" sz="320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" y="1584325"/>
            <a:ext cx="4405630" cy="417385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x-none" altLang="en-US">
                <a:solidFill>
                  <a:srgbClr val="FF0000"/>
                </a:solidFill>
              </a:rPr>
              <a:t>44.</a:t>
            </a:r>
            <a:r>
              <a:rPr lang="x-none" altLang="en-US"/>
              <a:t>已知直线y=x+3与椭圆            有公共点，则m的取值范围是</a:t>
            </a:r>
            <a:endParaRPr lang="x-none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7700" y="1584325"/>
            <a:ext cx="3241040" cy="360997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5800" y="612775"/>
            <a:ext cx="1308100" cy="65913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2165" y="1584325"/>
            <a:ext cx="4001135" cy="93599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x-none" altLang="en-US">
                <a:solidFill>
                  <a:srgbClr val="FF0000"/>
                </a:solidFill>
              </a:rPr>
              <a:t>45.</a:t>
            </a:r>
            <a:r>
              <a:rPr lang="x-none" altLang="en-US"/>
              <a:t>若方程                       恰有两个不同的实数根，则实数a的取值范围是</a:t>
            </a:r>
            <a:endParaRPr lang="x-none" alt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237740" y="678815"/>
            <a:ext cx="2391410" cy="48514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6850" y="1584325"/>
            <a:ext cx="2076450" cy="79057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x-none" altLang="en-US">
                <a:solidFill>
                  <a:srgbClr val="FF0000"/>
                </a:solidFill>
              </a:rPr>
              <a:t>47.</a:t>
            </a:r>
            <a:r>
              <a:rPr lang="x-none" altLang="en-US"/>
              <a:t>已知直线l:x-my+3=0和椭圆              ，写出满足条件”直线l与椭圆C有两个公共点”的m的一个值</a:t>
            </a:r>
            <a:endParaRPr lang="x-none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7700" y="1584325"/>
            <a:ext cx="5389880" cy="278193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6705" y="342265"/>
            <a:ext cx="1419225" cy="73914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x-none" altLang="en-US">
                <a:solidFill>
                  <a:srgbClr val="0070C0"/>
                </a:solidFill>
              </a:rPr>
              <a:t>48.</a:t>
            </a:r>
            <a:r>
              <a:rPr lang="x-none" altLang="en-US"/>
              <a:t>过椭圆               的一个焦点作x轴的垂线l，若l交C于A，B两点，则AB=</a:t>
            </a:r>
            <a:endParaRPr lang="x-none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95195" y="356870"/>
            <a:ext cx="1557655" cy="65278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0275" y="1584325"/>
            <a:ext cx="1343025" cy="16383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x-none" altLang="en-US">
                <a:solidFill>
                  <a:srgbClr val="0070C0"/>
                </a:solidFill>
              </a:rPr>
              <a:t>51.</a:t>
            </a:r>
            <a:r>
              <a:rPr lang="x-none" altLang="en-US"/>
              <a:t>设F为抛物线y</a:t>
            </a:r>
            <a:r>
              <a:rPr lang="en-US" altLang="en-US"/>
              <a:t>²</a:t>
            </a:r>
            <a:r>
              <a:rPr lang="x-none" altLang="en-US"/>
              <a:t>=4x的焦点，过F且斜率为1的直线交抛物线C于A，B两点，则AB=</a:t>
            </a:r>
            <a:endParaRPr lang="x-none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7700" y="1584325"/>
            <a:ext cx="4210050" cy="366395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9925050" y="1584325"/>
            <a:ext cx="40640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x-none" altLang="en-US" sz="3200"/>
              <a:t>8</a:t>
            </a:r>
            <a:endParaRPr lang="x-none" altLang="en-US" sz="32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x-none" altLang="en-US">
                <a:solidFill>
                  <a:srgbClr val="0070C0"/>
                </a:solidFill>
              </a:rPr>
              <a:t>52.</a:t>
            </a:r>
            <a:r>
              <a:rPr lang="x-none" altLang="en-US"/>
              <a:t>已知F</a:t>
            </a:r>
            <a:r>
              <a:rPr lang="en-US" altLang="en-US"/>
              <a:t>₁</a:t>
            </a:r>
            <a:r>
              <a:rPr lang="x-none" altLang="en-US"/>
              <a:t>,F</a:t>
            </a:r>
            <a:r>
              <a:rPr lang="en-US" altLang="en-US"/>
              <a:t>₂</a:t>
            </a:r>
            <a:r>
              <a:rPr lang="x-none" altLang="en-US"/>
              <a:t>是椭圆            的左，右焦点，点P在C上，且线段PF</a:t>
            </a:r>
            <a:r>
              <a:rPr lang="en-US" altLang="en-US">
                <a:sym typeface="+mn-ea"/>
              </a:rPr>
              <a:t>₁</a:t>
            </a:r>
            <a:r>
              <a:rPr lang="x-none" altLang="en-US">
                <a:sym typeface="+mn-ea"/>
              </a:rPr>
              <a:t>的中电在以F</a:t>
            </a:r>
            <a:r>
              <a:rPr lang="en-US" altLang="en-US">
                <a:sym typeface="+mn-ea"/>
              </a:rPr>
              <a:t>₁</a:t>
            </a:r>
            <a:r>
              <a:rPr lang="x-none" altLang="en-US">
                <a:sym typeface="+mn-ea"/>
              </a:rPr>
              <a:t>F</a:t>
            </a:r>
            <a:r>
              <a:rPr lang="en-US" altLang="en-US">
                <a:sym typeface="+mn-ea"/>
              </a:rPr>
              <a:t>₂</a:t>
            </a:r>
            <a:r>
              <a:rPr lang="x-none" altLang="en-US">
                <a:sym typeface="+mn-ea"/>
              </a:rPr>
              <a:t>为直径的圆上，则三角形P</a:t>
            </a:r>
            <a:r>
              <a:rPr lang="x-none" altLang="en-US">
                <a:sym typeface="+mn-ea"/>
              </a:rPr>
              <a:t>F</a:t>
            </a:r>
            <a:r>
              <a:rPr lang="en-US" altLang="en-US">
                <a:sym typeface="+mn-ea"/>
              </a:rPr>
              <a:t>₁</a:t>
            </a:r>
            <a:r>
              <a:rPr lang="x-none" altLang="en-US">
                <a:sym typeface="+mn-ea"/>
              </a:rPr>
              <a:t>F</a:t>
            </a:r>
            <a:r>
              <a:rPr lang="en-US" altLang="en-US">
                <a:sym typeface="+mn-ea"/>
              </a:rPr>
              <a:t>₂</a:t>
            </a:r>
            <a:r>
              <a:rPr lang="x-none" altLang="en-US">
                <a:sym typeface="+mn-ea"/>
              </a:rPr>
              <a:t>的面积为</a:t>
            </a:r>
            <a:endParaRPr lang="x-none" altLang="en-US">
              <a:sym typeface="+mn-ea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29025" y="473075"/>
            <a:ext cx="1196340" cy="42037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0" y="1584325"/>
            <a:ext cx="1333500" cy="70485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1584325"/>
            <a:ext cx="4477385" cy="415036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x-none" altLang="en-US"/>
              <a:t>53.已知椭圆             的一个焦点是F，过原点的直线与C交于A，B，</a:t>
            </a:r>
            <a:r>
              <a:rPr lang="en-US" altLang="en-US"/>
              <a:t>△</a:t>
            </a:r>
            <a:r>
              <a:rPr lang="x-none" altLang="en-US"/>
              <a:t>ABF的面积是     ，则AB=</a:t>
            </a:r>
            <a:endParaRPr lang="x-none" alt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28570" y="408305"/>
            <a:ext cx="1316355" cy="51498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0045" y="857250"/>
            <a:ext cx="511175" cy="47688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0" y="1584325"/>
            <a:ext cx="1562100" cy="119062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700" y="1584325"/>
            <a:ext cx="1615440" cy="4430395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5985" y="231775"/>
            <a:ext cx="1403350" cy="52959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3740" y="258445"/>
            <a:ext cx="445135" cy="55372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x-none" altLang="en-US">
                <a:solidFill>
                  <a:srgbClr val="0070C0"/>
                </a:solidFill>
              </a:rPr>
              <a:t>54.</a:t>
            </a:r>
            <a:r>
              <a:rPr lang="x-none" altLang="en-US"/>
              <a:t>双曲线             (a&gt;0)的左、右焦点分别为</a:t>
            </a:r>
            <a:r>
              <a:rPr lang="x-none" altLang="en-US">
                <a:sym typeface="+mn-ea"/>
              </a:rPr>
              <a:t>F</a:t>
            </a:r>
            <a:r>
              <a:rPr lang="en-US" altLang="en-US">
                <a:sym typeface="+mn-ea"/>
              </a:rPr>
              <a:t>₁</a:t>
            </a:r>
            <a:r>
              <a:rPr lang="x-none" altLang="en-US">
                <a:sym typeface="+mn-ea"/>
              </a:rPr>
              <a:t>,F</a:t>
            </a:r>
            <a:r>
              <a:rPr lang="en-US" altLang="en-US">
                <a:sym typeface="+mn-ea"/>
              </a:rPr>
              <a:t>₂</a:t>
            </a:r>
            <a:r>
              <a:rPr lang="x-none" altLang="en-US">
                <a:sym typeface="+mn-ea"/>
              </a:rPr>
              <a:t>，离心率为     ，右支上一点P满足P</a:t>
            </a:r>
            <a:r>
              <a:rPr lang="x-none" altLang="en-US">
                <a:sym typeface="+mn-ea"/>
              </a:rPr>
              <a:t>F</a:t>
            </a:r>
            <a:r>
              <a:rPr lang="en-US" altLang="en-US">
                <a:sym typeface="+mn-ea"/>
              </a:rPr>
              <a:t>₁⊥</a:t>
            </a:r>
            <a:r>
              <a:rPr lang="x-none" altLang="en-US">
                <a:sym typeface="+mn-ea"/>
              </a:rPr>
              <a:t>PF</a:t>
            </a:r>
            <a:r>
              <a:rPr lang="en-US" altLang="en-US">
                <a:sym typeface="+mn-ea"/>
              </a:rPr>
              <a:t>₂</a:t>
            </a:r>
            <a:r>
              <a:rPr lang="x-none" altLang="en-US">
                <a:sym typeface="+mn-ea"/>
              </a:rPr>
              <a:t>，直线l平分</a:t>
            </a:r>
            <a:r>
              <a:rPr lang="en-US" altLang="en-US">
                <a:sym typeface="+mn-ea"/>
              </a:rPr>
              <a:t>∠</a:t>
            </a:r>
            <a:r>
              <a:rPr lang="x-none" altLang="en-US">
                <a:sym typeface="+mn-ea"/>
              </a:rPr>
              <a:t>F</a:t>
            </a:r>
            <a:r>
              <a:rPr lang="en-US" altLang="en-US">
                <a:sym typeface="+mn-ea"/>
              </a:rPr>
              <a:t>₁</a:t>
            </a:r>
            <a:r>
              <a:rPr lang="x-none" altLang="en-US">
                <a:sym typeface="+mn-ea"/>
              </a:rPr>
              <a:t>PF</a:t>
            </a:r>
            <a:r>
              <a:rPr lang="en-US" altLang="en-US">
                <a:sym typeface="+mn-ea"/>
              </a:rPr>
              <a:t>₂</a:t>
            </a:r>
            <a:r>
              <a:rPr lang="x-none" altLang="en-US">
                <a:sym typeface="+mn-ea"/>
              </a:rPr>
              <a:t>，过点F</a:t>
            </a:r>
            <a:r>
              <a:rPr lang="en-US" altLang="en-US">
                <a:sym typeface="+mn-ea"/>
              </a:rPr>
              <a:t>₁</a:t>
            </a:r>
            <a:r>
              <a:rPr lang="x-none" altLang="en-US">
                <a:sym typeface="+mn-ea"/>
              </a:rPr>
              <a:t>,F</a:t>
            </a:r>
            <a:r>
              <a:rPr lang="en-US" altLang="en-US">
                <a:sym typeface="+mn-ea"/>
              </a:rPr>
              <a:t>₂</a:t>
            </a:r>
            <a:r>
              <a:rPr lang="x-none" altLang="en-US">
                <a:sym typeface="+mn-ea"/>
              </a:rPr>
              <a:t>作l的垂线，垂足分别为A,B.设O为坐标原点，则</a:t>
            </a:r>
            <a:r>
              <a:rPr lang="en-US" altLang="en-US">
                <a:sym typeface="+mn-ea"/>
              </a:rPr>
              <a:t>△</a:t>
            </a:r>
            <a:r>
              <a:rPr lang="x-none" altLang="en-US">
                <a:sym typeface="+mn-ea"/>
              </a:rPr>
              <a:t>OAB的面积为</a:t>
            </a:r>
            <a:endParaRPr lang="x-none" altLang="en-US">
              <a:sym typeface="+mn-ea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1584325"/>
            <a:ext cx="5064760" cy="3475990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9603740" y="1584325"/>
            <a:ext cx="40640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x-none" altLang="en-US" sz="3200"/>
              <a:t>10</a:t>
            </a:r>
            <a:endParaRPr lang="x-none" altLang="en-US" sz="32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x-none" altLang="en-US"/>
              <a:t>55.已知点F是抛物线y</a:t>
            </a:r>
            <a:r>
              <a:rPr lang="en-US" altLang="en-US"/>
              <a:t>²</a:t>
            </a:r>
            <a:r>
              <a:rPr lang="x-none" altLang="en-US"/>
              <a:t>=2px(p&gt;0)的焦点，经过F的两条直线分别交抛物线于A、B和C、D，其中B、C两点在x轴上方，若AB</a:t>
            </a:r>
            <a:r>
              <a:rPr lang="en-US" altLang="en-US"/>
              <a:t>⊥</a:t>
            </a:r>
            <a:r>
              <a:rPr lang="x-none" altLang="en-US"/>
              <a:t>CD，则四边形ACBD面积的最小值为</a:t>
            </a:r>
            <a:endParaRPr lang="x-none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7700" y="1584325"/>
            <a:ext cx="4391660" cy="4164965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9758045" y="1584325"/>
            <a:ext cx="40640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x-none" altLang="en-US" sz="3200"/>
              <a:t>8p</a:t>
            </a:r>
            <a:r>
              <a:rPr lang="en-US" altLang="en-US" sz="3200"/>
              <a:t>²</a:t>
            </a:r>
            <a:endParaRPr lang="en-US" altLang="en-US" sz="32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x-none" altLang="en-US">
                <a:solidFill>
                  <a:srgbClr val="FF0000"/>
                </a:solidFill>
              </a:rPr>
              <a:t>56.</a:t>
            </a:r>
            <a:r>
              <a:rPr lang="x-none" altLang="en-US"/>
              <a:t>已知椭圆                      的右焦点为F(3,0)，过点F的直线交椭圆于A,B两点，若AB中点坐标为(1,-1),则E的方程为</a:t>
            </a:r>
            <a:endParaRPr lang="x-none" alt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489200" y="408305"/>
            <a:ext cx="2292985" cy="49339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" y="1584325"/>
            <a:ext cx="2748915" cy="4318635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9283065" y="1584325"/>
            <a:ext cx="40640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x-none" altLang="en-US" sz="3200"/>
              <a:t>A</a:t>
            </a:r>
            <a:endParaRPr lang="x-none" altLang="en-US" sz="3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宋体"/>
        <a:font script="Hant" typeface="新細明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2264</Words>
  <Application>WPS Presentation</Application>
  <PresentationFormat>宽屏</PresentationFormat>
  <Paragraphs>79</Paragraphs>
  <Slides>28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41" baseType="lpstr">
      <vt:lpstr>Arial</vt:lpstr>
      <vt:lpstr>宋体</vt:lpstr>
      <vt:lpstr>Wingdings</vt:lpstr>
      <vt:lpstr>DejaVu Sans</vt:lpstr>
      <vt:lpstr>Arial Black</vt:lpstr>
      <vt:lpstr>Noto Serif CJK SC</vt:lpstr>
      <vt:lpstr>微软雅黑</vt:lpstr>
      <vt:lpstr>Noto Sans CJK SC</vt:lpstr>
      <vt:lpstr>宋体</vt:lpstr>
      <vt:lpstr>Arial Unicode MS</vt:lpstr>
      <vt:lpstr>FantasqueSansM Nerd Font</vt:lpstr>
      <vt:lpstr>Noto Color Emoji</vt:lpstr>
      <vt:lpstr>Office Theme</vt:lpstr>
      <vt:lpstr>5.已知动圆C与圆(x-2)² +y²=25内切，同时与圆(x+2)² +y=1外切，则动圆C的圆心轨迹方程为</vt:lpstr>
      <vt:lpstr>5.已知动圆C与圆(x-2)² +y²=25内切，同时与圆(x+2)² +y=1外切，则动圆C的圆心轨迹方程为</vt:lpstr>
      <vt:lpstr>11.已知双曲线               的左，右焦点分别为F₁,F₂，以线段F₁F₂为直径的圆与双曲线C在第二象限内的交点为M，若sin∠MF₁F₂=0.8，则原点O到直线MF₂的距离为</vt:lpstr>
      <vt:lpstr>12.已知F₁,F₂分别为双曲线             的左右焦点，O为坐标原点，过C右支上一点A(x₀,y₀)(x₀&gt;√3)作∠F₁AF₂的角平分线交x轴于点M，过F₁作F₁H⊥AM，垂足为H，则OH=</vt:lpstr>
      <vt:lpstr>18.已知抛物线C:y²=4x上一点P(x₀,y₀)，点A(3,√21),则         的最小值</vt:lpstr>
      <vt:lpstr>19.已知点M(0,4)，点P在曲线x²=12y上运动，点Q在圆x²+(y-3)²=1上运动，则     的取值范围是</vt:lpstr>
      <vt:lpstr>26.已知圆心在x轴上移动的圆经过M(-4,0)，且与x轴，y轴分别交于A,B两个动点，过A,B分别作x轴，y轴的垂线，两条垂线的交点记为P，则P的轨迹的形状</vt:lpstr>
      <vt:lpstr>27.(多选)双曲线            的左、右焦点分别是F₁,F₂，P(x₀,y₀)是双曲线第一象限上的一点，且             ，∠F₁PF₂的角平分线交x轴于点M(m,0)，则：     A.G的轨迹是双曲线的一部分		B.GO的最小值是1      C.    的取值范围是(1,3)		D.mx₀=9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44.已知直线y=x+3与椭圆            有公共点，则m的取值范围是</vt:lpstr>
      <vt:lpstr>45.若方程                       恰有两个不同的实数根，则实数a的取值范围是</vt:lpstr>
      <vt:lpstr>47.已知直线l:x-my+3=0和椭圆              ，写出满足条件”直线l与椭圆C有两个公共点”的m的一个值</vt:lpstr>
      <vt:lpstr>48.过椭圆               的一个焦点作x轴的垂线l，若l交C于A，B两点，则AB=</vt:lpstr>
      <vt:lpstr>51.设F为抛物线y²=4x的焦点，过F且斜率为1的直线交抛物线C于A，B两点，则AB=</vt:lpstr>
      <vt:lpstr>52.已知F₁,F₂是椭圆            的左，右焦点，点P在C上，且线段PF₁的中电在以F₁F₂为直径的圆上，则三角形PF₁F₂的面积为</vt:lpstr>
      <vt:lpstr>53.已知椭圆             的一个焦点是F，过原点的直线与C交于A，B，△ABF的面积是     ，则AB=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</dc:creator>
  <cp:lastModifiedBy>li</cp:lastModifiedBy>
  <cp:revision>40</cp:revision>
  <dcterms:created xsi:type="dcterms:W3CDTF">2026-06-05T13:58:01Z</dcterms:created>
  <dcterms:modified xsi:type="dcterms:W3CDTF">2026-06-05T13:58:01Z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1033-12.1.2.25882</vt:lpwstr>
  </property>
  <property fmtid="{D5CDD505-2E9C-101B-9397-08002B2CF9AE}" pid="3" name="ICV">
    <vt:lpwstr>7E48D70E12B7EA847A57226A50695CE9_41</vt:lpwstr>
  </property>
</Properties>
</file>